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62" r:id="rId4"/>
    <p:sldId id="264" r:id="rId5"/>
    <p:sldId id="257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2" r:id="rId14"/>
    <p:sldId id="290" r:id="rId15"/>
    <p:sldId id="291" r:id="rId16"/>
    <p:sldId id="293" r:id="rId17"/>
    <p:sldId id="294" r:id="rId18"/>
    <p:sldId id="282" r:id="rId19"/>
    <p:sldId id="27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854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536CE-E45A-AADF-17CE-62DCAD60B5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CA8B13-14FB-FC7A-AE8D-0443EF2052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FAD22-9F50-C88D-0933-C106D418B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D7579-5794-CC00-C045-B791FA7AE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AFCF2-0DEB-5B31-B526-62EBC37E0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64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EDAFE-2D34-239C-C11E-0D5AB8D34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8CBE48-7C5D-6D04-0FBA-FAAF900AF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593B1-9F48-9719-053B-3F5ADE53D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69231-46AC-F57A-D902-8D0F88958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3FE03-8F2E-103E-11D0-A27621A03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34349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78430-BCAB-1B0F-AF15-F0E893C43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653EE-F384-CF59-792F-FF4158140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20D31-6CAE-2FB6-153A-B7FF19081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B98F5-8D12-377B-65EF-BC8BE45B7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329027-F24E-A076-D94C-44638BBC2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4764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7A3F7-DD0E-44ED-4EEB-249AABF7B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C653D-D49D-A4FA-4A90-363F30C233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149514-69B0-9D75-AB75-91B84E81F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3F0CED-BEE9-51BC-66AD-2DB565B39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B2C858-6BD8-6F6C-18CC-DD61025D4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B96E2B-3604-BDC8-E54A-4D85F5C24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1386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02470-824B-4058-2C01-DBE9700C8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2100F9-D38B-36A7-7D45-54A621844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87207-1406-713D-69FC-90C0D7191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A808A8-687A-6C13-295A-A029B1E363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54EB28-8FF5-8565-09EB-0291EA601C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C54A18-0C92-2393-045B-6CAF563B7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1FF9CC-DC04-60BA-6C96-F30AC957B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5D9D53-A54F-89EC-CCAB-979C254D0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737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02C45-D1E3-2607-6828-9CCF3A969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5398FC-392A-FDAB-C7AE-E6210BBDA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744E78-47C2-5F62-E4D8-2E5E7FD16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CD9E7-7BAD-60B2-B129-E58DFACE4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894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D6826F-7C9B-389B-D3BE-3E86EEAEE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DA1C3F-136F-9E45-0514-741B20986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01C8C-4DBE-3D21-FAB2-B0DB4A6D8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227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F5A2E-0099-9832-239F-CA04757EB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FC63F-2D86-A29C-17EC-75FA93EC3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A19F38-C99B-AA2D-6575-D974606101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1C0AA0-FA71-3666-DC1C-D1D8732E11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F92665-8BD3-E58B-6F97-5F3F0AEE9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4664A6-5CAB-99D8-788D-084B8C74A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3304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57889-AEA8-4506-EEA2-454B0813A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5FF9DB-8691-04E9-6B36-86362522E9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998241-823E-96F4-D240-F61FF2CAA0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B39A56-F6AD-8E3F-E2B7-79D0D078F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A6FDB3-0344-BE41-9AB9-32C3CF269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70EA6-15F8-B839-7E6E-C5576FCE6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914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A7AAF-EE17-169F-1AB6-E30AED053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700CEB-5076-D9B7-2D28-2017F009BF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B8B1B-89D7-F2B2-62B6-12397E624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E3F9E-F277-4FED-D74A-80D7A5A42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6B7DE-F8D2-63C1-1000-F79563564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226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DA0CC6-6B5F-7A14-1AF5-214FD7F5B8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A75CF6-B132-E92D-42E9-B6BEF4BAF6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CF2626-8B84-38A1-4301-6C45FB0C6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BD994-088D-4DFC-A63A-488DD372583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D5142-E250-53BE-3BE7-1F85F5F0D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54A1F-596C-82D3-CF4F-46032471E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456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412CF-0A97-D6E9-08A7-94B404CA02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EF4C72-1FF5-95FF-2EF5-016E4E776A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A4C1B-20B9-D303-48D5-5152F3EC9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50320-3EA4-D740-5867-EAF5C6D9F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17687-1800-6FBB-6366-35F680C71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4426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45846-BF1A-FDA3-AF21-CBDF3817E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5D219-9850-A749-A812-DCC6A050A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E396F-1B23-F3A3-0511-712205481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DEF52-9446-668B-36C9-2DBE413EC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B32EA-BB8E-1A78-E352-195F8DE45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2574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34D0-95D6-2A03-AEFF-31BFE64BD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741E04-482B-9185-BE1B-F30C178B7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B69F5A-895A-3E20-0F99-18FC81F59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99B35-6AE6-0716-0A3B-488AE99C9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CC7CD-8462-7600-CB80-9ADFC4A59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18068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1805A-E41A-7AD3-9215-E24984304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7EFB5-C607-A863-1696-A0DCDD2A63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5BF1F4-07D4-6A3A-23A7-7F12DC4E74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76EC5-E88E-A84C-B7F6-A24DA323C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AD5988-64CC-0BEF-4262-41FDF2C69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38D28-03B2-C58F-3362-A1606E2F0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2782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48FA1-C0E2-F799-F99A-14B661670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BBE08B-D183-C98F-15F4-3923564B4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CC617D-6738-8322-64CF-3306D9E901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6C13EF-8921-21AF-446E-43A50265D1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2E4F52-35E7-61A4-8AF5-CC7A3A980A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5B8D9-D5AA-5FBB-6C8B-94BD962B9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C2B31D-3BC9-100D-3FFE-311A0E85A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47A129-04E8-C66F-66B9-C93EBD408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68236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4F029-C3BC-0946-5B46-27A62C277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CEDA22-AFE9-0D01-CE95-7689B19E5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270DA7-E55B-3D04-08C6-1A5D4AC69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1A3DB6-CC78-4E99-BF39-B6631CF57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4009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2D5020-86FF-29D2-CF0B-41FA1C497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12C0C5-2392-1961-1D1D-25D58044F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6E48B-1C67-4D12-8E10-27AC939FF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176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6C026-103E-B109-AB8C-6D44A5153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E64F4-13F5-17BC-858F-A91D84A40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4961AB-963E-1504-72A4-A1AB170563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523EF0-71CA-2AA7-FBD0-CEDA44B0D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E5D4D8-83C7-F4C3-84E7-A35FB3495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1641F8-F4E2-CAA8-4C5E-A526C2227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14342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BA75A-F806-44FF-F25C-125C9BF22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D945C1-A2FF-5B51-8FCC-CD265E6425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A4E7DE-6EF8-8E36-0FA4-D6C69C6489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8B6497-FC12-FC5C-D1BE-CB3468C57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604F6-DC90-44B8-7B77-6063A2FEE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ADB8FD-00F8-B052-388B-DA323B887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6792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979D5-D78B-51A4-D507-10241BD86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20A1C5-E115-C982-D300-680CB9BCFB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8A9CA-6D71-4F05-0745-C5908856A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3D602-75B8-A654-AB57-B81FC5305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8E863-DEB4-4044-F68B-76F80BE5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527997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A36B2D-9F42-4E6C-811E-EBB1C46CF7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BB7E0C-5FD8-5909-7828-CFF87FAF9C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09456-A7F9-B919-EDFF-77A9B8A48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6CEB-1072-4B22-A473-588D7AF62EB2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707C0-423A-49F8-7B06-1915C0E0A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6D5D8-78EF-1E5F-018E-6A0B3F2C1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78568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C3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C32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736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039B7D-65D6-46E6-4D0D-5248DE315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87C1B3-42BF-1C76-BE2B-E8E0F8BF6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7298E-FF3A-263A-A4F6-F667A54D77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9BD994-088D-4DFC-A63A-488DD372583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B327C-5432-928A-78F3-525A017738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ACEFF-1A2F-E90C-1E3A-45B9DFF323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C5ACFD-1C5C-4B06-B9EE-CA0B0EE607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302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3E9012-068E-580E-8B8F-2451EB4A5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9532D6-39DA-958D-51DB-1D71DCBEE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65381-025A-C3E2-9A48-96CFE8B98D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816CEB-1072-4B22-A473-588D7AF62EB2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45B3F-F87A-E427-9837-304E169A5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87EC7-7BD1-4047-A8C3-498FD35E15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A9E4B9-0DD6-4F17-A1A2-1B391774F1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7127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A831E-D1DB-BDE8-DA0F-9D8044D8A6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Enablement for Gen AI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315B3B-2A6A-942B-EC5D-131373CA56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Ajay J. Singala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0139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C374A9-1785-AE64-2B0A-D1C59FC72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>
                <a:solidFill>
                  <a:srgbClr val="FFFFFF"/>
                </a:solidFill>
              </a:rPr>
              <a:t>Retrieval Tuning</a:t>
            </a:r>
            <a:endParaRPr lang="en-US" sz="4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F5BD1-2BC9-18E1-BE9F-FC9DE6E25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4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5006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3E8498D-DA8F-EF6C-5420-F153D4979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E39696-2F4E-A3CB-2B45-0571098FE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1814321"/>
            <a:ext cx="7772400" cy="4560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dirty="0"/>
              <a:t>Top-k Selection and Relevance Trade-offs</a:t>
            </a:r>
            <a:endParaRPr lang="en-US" sz="7800" b="1" dirty="0"/>
          </a:p>
        </p:txBody>
      </p:sp>
    </p:spTree>
    <p:extLst>
      <p:ext uri="{BB962C8B-B14F-4D97-AF65-F5344CB8AC3E}">
        <p14:creationId xmlns:p14="http://schemas.microsoft.com/office/powerpoint/2010/main" val="30043926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FEBB8-F88F-D666-F290-2900F35F9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Top-k?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BFF1E4-E4A4-82BE-0128-F23052451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is Top-k?</a:t>
            </a:r>
          </a:p>
          <a:p>
            <a:pPr lvl="1"/>
            <a:r>
              <a:rPr lang="en-US" dirty="0"/>
              <a:t>In RAG, </a:t>
            </a:r>
            <a:r>
              <a:rPr lang="en-US" i="1" dirty="0"/>
              <a:t>top-k</a:t>
            </a:r>
            <a:r>
              <a:rPr lang="en-US" dirty="0"/>
              <a:t> = number of chunks retrieved from the vector store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Example: </a:t>
            </a:r>
          </a:p>
          <a:p>
            <a:pPr lvl="2"/>
            <a:r>
              <a:rPr lang="en-US" dirty="0"/>
              <a:t>k = 3 → retrieve top 3 most similar chunks </a:t>
            </a:r>
          </a:p>
          <a:p>
            <a:pPr lvl="2"/>
            <a:r>
              <a:rPr lang="en-US" dirty="0"/>
              <a:t>k = 10 → retrieve top 10 chunks</a:t>
            </a:r>
          </a:p>
          <a:p>
            <a:r>
              <a:rPr lang="en-US" dirty="0"/>
              <a:t>Trade-off:</a:t>
            </a:r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A79B776-6E14-B36B-A815-2110DAB977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9471952"/>
              </p:ext>
            </p:extLst>
          </p:nvPr>
        </p:nvGraphicFramePr>
        <p:xfrm>
          <a:off x="838200" y="4641374"/>
          <a:ext cx="10515600" cy="1463040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13920097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0637196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Low k (e.g., 2–3)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 k (e.g., 8–10)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0440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More precise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Higher coverage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73623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Risk of missing info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More noise added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0079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Slower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2074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4605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059B8-D4A2-2D92-2A2F-082541850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79F64-7883-1807-4832-BAE987145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Top-k?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EC50D-7FBB-3A49-59D8-0B87EAE53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Simple Example</a:t>
            </a:r>
          </a:p>
          <a:p>
            <a:pPr lvl="1"/>
            <a:r>
              <a:rPr lang="en-US" b="1" dirty="0"/>
              <a:t>Query:</a:t>
            </a:r>
            <a:r>
              <a:rPr lang="en-US" dirty="0"/>
              <a:t> “What is the leave policy for maternity leave?”</a:t>
            </a:r>
          </a:p>
          <a:p>
            <a:pPr lvl="1"/>
            <a:r>
              <a:rPr lang="en-US" b="1" dirty="0"/>
              <a:t>k = 2</a:t>
            </a:r>
          </a:p>
          <a:p>
            <a:pPr lvl="2"/>
            <a:r>
              <a:rPr lang="en-US" dirty="0"/>
              <a:t>Only general leave policy retrieved</a:t>
            </a:r>
          </a:p>
          <a:p>
            <a:pPr lvl="2"/>
            <a:r>
              <a:rPr lang="en-US" dirty="0"/>
              <a:t>Misses maternity-specific details </a:t>
            </a:r>
          </a:p>
          <a:p>
            <a:pPr lvl="1"/>
            <a:r>
              <a:rPr lang="en-US" b="1" dirty="0"/>
              <a:t>k = 8</a:t>
            </a:r>
          </a:p>
          <a:p>
            <a:pPr lvl="2"/>
            <a:r>
              <a:rPr lang="en-US" dirty="0"/>
              <a:t>Includes maternity, sick leave, travel policy</a:t>
            </a:r>
          </a:p>
          <a:p>
            <a:pPr lvl="2"/>
            <a:r>
              <a:rPr lang="en-US" dirty="0"/>
              <a:t>Too much irrelevant info</a:t>
            </a:r>
          </a:p>
          <a:p>
            <a:pPr lvl="2"/>
            <a:endParaRPr lang="en-US" dirty="0"/>
          </a:p>
          <a:p>
            <a:r>
              <a:rPr lang="en-US" dirty="0"/>
              <a:t>There is no “</a:t>
            </a:r>
            <a:r>
              <a:rPr lang="en-US" b="1" i="1" dirty="0"/>
              <a:t>perfect k</a:t>
            </a:r>
            <a:r>
              <a:rPr lang="en-US" dirty="0"/>
              <a:t>” — it depends on your use case.</a:t>
            </a:r>
          </a:p>
        </p:txBody>
      </p:sp>
    </p:spTree>
    <p:extLst>
      <p:ext uri="{BB962C8B-B14F-4D97-AF65-F5344CB8AC3E}">
        <p14:creationId xmlns:p14="http://schemas.microsoft.com/office/powerpoint/2010/main" val="2278085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25A099-CE35-974A-A9AA-BF1F17917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CDEE15E-F7F0-E612-77A3-C0E6E57E92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3558F2-8718-2F96-70E4-B8FB39917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1814321"/>
            <a:ext cx="7772400" cy="4560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7200" dirty="0"/>
              <a:t>Recall vs Precision Balancing</a:t>
            </a:r>
            <a:endParaRPr lang="en-US" sz="7800" b="1" dirty="0"/>
          </a:p>
        </p:txBody>
      </p:sp>
    </p:spTree>
    <p:extLst>
      <p:ext uri="{BB962C8B-B14F-4D97-AF65-F5344CB8AC3E}">
        <p14:creationId xmlns:p14="http://schemas.microsoft.com/office/powerpoint/2010/main" val="12124182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46C53-FBAF-5225-FC53-CC225F1AB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0B75A-7857-243B-24DC-FCDB1DD23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Recall vs Precision Balancing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376E1-4F38-C17D-2F14-6F75CB3F7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Definitions:</a:t>
            </a:r>
          </a:p>
          <a:p>
            <a:pPr lvl="1"/>
            <a:r>
              <a:rPr lang="en-US" b="1" dirty="0"/>
              <a:t>Recall</a:t>
            </a:r>
            <a:r>
              <a:rPr lang="en-US" dirty="0"/>
              <a:t> = Did we retrieve </a:t>
            </a:r>
            <a:r>
              <a:rPr lang="en-US" i="1" dirty="0"/>
              <a:t>all relevant information</a:t>
            </a:r>
            <a:r>
              <a:rPr lang="en-US" dirty="0"/>
              <a:t>? </a:t>
            </a:r>
          </a:p>
          <a:p>
            <a:pPr lvl="1"/>
            <a:r>
              <a:rPr lang="en-US" b="1" dirty="0"/>
              <a:t>Precision</a:t>
            </a:r>
            <a:r>
              <a:rPr lang="en-US" dirty="0"/>
              <a:t> = Are retrieved chunks </a:t>
            </a:r>
            <a:r>
              <a:rPr lang="en-US" i="1" dirty="0"/>
              <a:t>actually relevant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IN" dirty="0"/>
              <a:t>Trade-off: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A6575CD-6C65-5E3A-C462-7C3C64A3F0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6505214"/>
              </p:ext>
            </p:extLst>
          </p:nvPr>
        </p:nvGraphicFramePr>
        <p:xfrm>
          <a:off x="838200" y="4092734"/>
          <a:ext cx="10515600" cy="1463040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86774788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285856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 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 Precision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4065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More results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Fewer results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4968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Less chance of missing info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Less noise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42566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More irrelevant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Risk of missing key info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65653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08324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32971-0F62-962C-9B2D-8D2DACF49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9DAED-708C-E24E-C810-254791C35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Recall vs Precision Balancing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37876-F62A-C425-6555-8397E2FBC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78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Example</a:t>
            </a:r>
          </a:p>
          <a:p>
            <a:pPr lvl="1"/>
            <a:r>
              <a:rPr lang="en-IN" b="1" dirty="0"/>
              <a:t>Query:</a:t>
            </a:r>
            <a:r>
              <a:rPr lang="en-IN" dirty="0"/>
              <a:t> “What are travel reimbursement rules?”</a:t>
            </a:r>
          </a:p>
          <a:p>
            <a:pPr lvl="1"/>
            <a:r>
              <a:rPr lang="en-IN" b="1" dirty="0"/>
              <a:t>High Recall</a:t>
            </a:r>
          </a:p>
          <a:p>
            <a:pPr lvl="2"/>
            <a:r>
              <a:rPr lang="en-IN" dirty="0"/>
              <a:t>Retrieves travel policy + expense policy + HR handbook</a:t>
            </a:r>
          </a:p>
          <a:p>
            <a:pPr lvl="2"/>
            <a:r>
              <a:rPr lang="en-IN" dirty="0"/>
              <a:t>Nothing missed</a:t>
            </a:r>
          </a:p>
          <a:p>
            <a:pPr lvl="2"/>
            <a:r>
              <a:rPr lang="en-IN" dirty="0"/>
              <a:t>Too much extra info </a:t>
            </a:r>
          </a:p>
          <a:p>
            <a:pPr lvl="1"/>
            <a:r>
              <a:rPr lang="en-IN" b="1" dirty="0"/>
              <a:t>High Precision</a:t>
            </a:r>
          </a:p>
          <a:p>
            <a:pPr lvl="2"/>
            <a:r>
              <a:rPr lang="en-IN" dirty="0"/>
              <a:t>Retrieves only travel reimbursement section</a:t>
            </a:r>
          </a:p>
          <a:p>
            <a:pPr lvl="2"/>
            <a:r>
              <a:rPr lang="en-IN" dirty="0"/>
              <a:t>Clean answer</a:t>
            </a:r>
          </a:p>
          <a:p>
            <a:pPr lvl="2"/>
            <a:r>
              <a:rPr lang="en-IN" dirty="0"/>
              <a:t>Might miss edge cases</a:t>
            </a:r>
          </a:p>
          <a:p>
            <a:pPr lvl="2"/>
            <a:endParaRPr lang="en-IN" dirty="0"/>
          </a:p>
          <a:p>
            <a:r>
              <a:rPr lang="en-US" dirty="0"/>
              <a:t>RAG systems fail more due to </a:t>
            </a:r>
            <a:r>
              <a:rPr lang="en-US" b="1" dirty="0"/>
              <a:t>low recall</a:t>
            </a:r>
            <a:r>
              <a:rPr lang="en-US" dirty="0"/>
              <a:t> than low precision.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2018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10012-D0B9-1B09-A2C7-8B35C5436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29333-0AF7-356A-1A9E-154FD6B71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Recall vs Precision Balancing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60F9A-44B4-1BFA-0023-D23926D53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785"/>
            <a:ext cx="10515600" cy="4351338"/>
          </a:xfrm>
        </p:spPr>
        <p:txBody>
          <a:bodyPr>
            <a:normAutofit/>
          </a:bodyPr>
          <a:lstStyle/>
          <a:p>
            <a:r>
              <a:rPr lang="en-US" b="1" dirty="0"/>
              <a:t>Practical Strategy</a:t>
            </a:r>
          </a:p>
          <a:p>
            <a:pPr lvl="1"/>
            <a:r>
              <a:rPr lang="en-US" dirty="0"/>
              <a:t>First ensure </a:t>
            </a:r>
            <a:r>
              <a:rPr lang="en-US" b="1" dirty="0"/>
              <a:t>good recall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Then improve precision using: </a:t>
            </a:r>
          </a:p>
          <a:p>
            <a:pPr lvl="2"/>
            <a:r>
              <a:rPr lang="en-US" dirty="0"/>
              <a:t>better chunking </a:t>
            </a:r>
          </a:p>
          <a:p>
            <a:pPr lvl="2"/>
            <a:r>
              <a:rPr lang="en-US" dirty="0"/>
              <a:t>metadata filtering </a:t>
            </a:r>
          </a:p>
          <a:p>
            <a:pPr lvl="2"/>
            <a:r>
              <a:rPr lang="en-US" dirty="0"/>
              <a:t>reranking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155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AA98ED-1B31-18F3-14B1-4142E4FE2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303E4B-80CE-4F7A-AD39-E02D31738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22F911-C1E4-493B-156A-7864E5E18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1814321"/>
            <a:ext cx="7772400" cy="4560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7200" dirty="0"/>
              <a:t>Prompt Context Window Optimization</a:t>
            </a:r>
            <a:endParaRPr lang="en-US" sz="7800" b="1" dirty="0"/>
          </a:p>
        </p:txBody>
      </p:sp>
    </p:spTree>
    <p:extLst>
      <p:ext uri="{BB962C8B-B14F-4D97-AF65-F5344CB8AC3E}">
        <p14:creationId xmlns:p14="http://schemas.microsoft.com/office/powerpoint/2010/main" val="324734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84F25-3B2F-7703-E33E-B7EF592D0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35A3F-7CB6-B820-11CA-37F22F82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Prompt Context Window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B2ACB-367F-42EB-CF56-A439075C9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785"/>
            <a:ext cx="10515600" cy="4351338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What is Context Window?</a:t>
            </a:r>
          </a:p>
          <a:p>
            <a:pPr lvl="1"/>
            <a:r>
              <a:rPr lang="en-US" dirty="0"/>
              <a:t>The total text (chunks + prompt + query) sent to the LLM </a:t>
            </a:r>
          </a:p>
          <a:p>
            <a:endParaRPr lang="en-US" dirty="0"/>
          </a:p>
          <a:p>
            <a:r>
              <a:rPr lang="en-US" b="1" dirty="0"/>
              <a:t>Problem</a:t>
            </a:r>
          </a:p>
          <a:p>
            <a:pPr lvl="1"/>
            <a:r>
              <a:rPr lang="en-US" dirty="0"/>
              <a:t>LLM has a </a:t>
            </a:r>
            <a:r>
              <a:rPr lang="en-US" b="1" dirty="0"/>
              <a:t>limited context size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Too much text → important info gets diluted or ignored </a:t>
            </a:r>
          </a:p>
          <a:p>
            <a:endParaRPr lang="en-US" dirty="0"/>
          </a:p>
          <a:p>
            <a:r>
              <a:rPr lang="en-US" b="1" dirty="0"/>
              <a:t>Example</a:t>
            </a:r>
          </a:p>
          <a:p>
            <a:pPr lvl="1"/>
            <a:r>
              <a:rPr lang="en-US" dirty="0"/>
              <a:t>You send 10 chunks:</a:t>
            </a:r>
          </a:p>
          <a:p>
            <a:pPr lvl="2"/>
            <a:r>
              <a:rPr lang="en-US" dirty="0"/>
              <a:t>Only 2 are relevant </a:t>
            </a:r>
          </a:p>
          <a:p>
            <a:pPr lvl="2"/>
            <a:r>
              <a:rPr lang="en-US" dirty="0"/>
              <a:t>8 are noise </a:t>
            </a:r>
          </a:p>
          <a:p>
            <a:pPr lvl="1"/>
            <a:r>
              <a:rPr lang="en-US" dirty="0"/>
              <a:t>Model may:</a:t>
            </a:r>
          </a:p>
          <a:p>
            <a:pPr lvl="2"/>
            <a:r>
              <a:rPr lang="en-US" dirty="0"/>
              <a:t>miss key details </a:t>
            </a:r>
          </a:p>
          <a:p>
            <a:pPr lvl="2"/>
            <a:r>
              <a:rPr lang="en-US" dirty="0"/>
              <a:t>hallucinate </a:t>
            </a:r>
          </a:p>
          <a:p>
            <a:pPr lvl="2"/>
            <a:r>
              <a:rPr lang="en-US" dirty="0"/>
              <a:t>give generic answers </a:t>
            </a:r>
          </a:p>
          <a:p>
            <a:endParaRPr lang="en-US" dirty="0"/>
          </a:p>
          <a:p>
            <a:r>
              <a:rPr lang="en-US" b="1" dirty="0"/>
              <a:t>Key Insight</a:t>
            </a:r>
          </a:p>
          <a:p>
            <a:pPr lvl="1"/>
            <a:r>
              <a:rPr lang="en-US" dirty="0"/>
              <a:t>More context ≠ better answers</a:t>
            </a:r>
          </a:p>
        </p:txBody>
      </p:sp>
    </p:spTree>
    <p:extLst>
      <p:ext uri="{BB962C8B-B14F-4D97-AF65-F5344CB8AC3E}">
        <p14:creationId xmlns:p14="http://schemas.microsoft.com/office/powerpoint/2010/main" val="1645974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D0174-F94E-CA7B-C8D5-BC8FAF9EC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909AD-570C-E611-44D6-4BCEF45B8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Prompt Context Window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A0756-CFB7-C3D6-1D45-3B46217A0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785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Best Practices</a:t>
            </a:r>
          </a:p>
          <a:p>
            <a:pPr marL="457200" lvl="1" indent="0">
              <a:buNone/>
            </a:pPr>
            <a:r>
              <a:rPr lang="en-US" b="1" dirty="0"/>
              <a:t>1. Keep context tight</a:t>
            </a:r>
            <a:endParaRPr lang="en-US" dirty="0"/>
          </a:p>
          <a:p>
            <a:pPr lvl="2"/>
            <a:r>
              <a:rPr lang="en-US" dirty="0"/>
              <a:t>Only include useful chunks </a:t>
            </a:r>
          </a:p>
          <a:p>
            <a:pPr marL="457200" lvl="1" indent="0">
              <a:buNone/>
            </a:pPr>
            <a:r>
              <a:rPr lang="en-US" b="1" dirty="0"/>
              <a:t>2. Prioritize ordering</a:t>
            </a:r>
            <a:endParaRPr lang="en-US" dirty="0"/>
          </a:p>
          <a:p>
            <a:pPr lvl="2"/>
            <a:r>
              <a:rPr lang="en-US" dirty="0"/>
              <a:t>Most relevant chunks first </a:t>
            </a:r>
          </a:p>
          <a:p>
            <a:pPr marL="457200" lvl="1" indent="0">
              <a:buNone/>
            </a:pPr>
            <a:r>
              <a:rPr lang="en-US" b="1" dirty="0"/>
              <a:t>3. Limit total tokens</a:t>
            </a:r>
            <a:endParaRPr lang="en-US" dirty="0"/>
          </a:p>
          <a:p>
            <a:pPr lvl="2"/>
            <a:r>
              <a:rPr lang="en-US" dirty="0"/>
              <a:t>Example: </a:t>
            </a:r>
          </a:p>
          <a:p>
            <a:pPr lvl="3"/>
            <a:r>
              <a:rPr lang="en-US" dirty="0"/>
              <a:t>Instead of 10 chunks → use best 4–5 </a:t>
            </a:r>
          </a:p>
          <a:p>
            <a:endParaRPr lang="en-US" dirty="0"/>
          </a:p>
          <a:p>
            <a:r>
              <a:rPr lang="en-US" b="1" dirty="0"/>
              <a:t>Analogy</a:t>
            </a:r>
          </a:p>
          <a:p>
            <a:pPr lvl="1"/>
            <a:r>
              <a:rPr lang="en-US" dirty="0"/>
              <a:t>Giving too much context is like giving a student 20 pages to answer 1 question — they get confused.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038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ECF1E4-C016-1BAF-7581-6B97B7841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E6CB458-C938-4112-9225-1894A48B47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B6E8D8-9AA9-A02B-56E3-070FB6B81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1814321"/>
            <a:ext cx="7772400" cy="45609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dirty="0"/>
              <a:t>Avoiding Over-Injection of Irrelevant Context</a:t>
            </a:r>
            <a:endParaRPr lang="en-US" sz="7800" b="1" dirty="0"/>
          </a:p>
        </p:txBody>
      </p:sp>
    </p:spTree>
    <p:extLst>
      <p:ext uri="{BB962C8B-B14F-4D97-AF65-F5344CB8AC3E}">
        <p14:creationId xmlns:p14="http://schemas.microsoft.com/office/powerpoint/2010/main" val="1530096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C5E8A-0B2E-7225-5E2F-E242980CC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E0208-4D4D-EB87-9255-7EB9C9074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Avoiding Over-Injection of Irrelevant Context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3A012-E5D0-87A0-FAAB-4D13F6516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785"/>
            <a:ext cx="10515600" cy="4351338"/>
          </a:xfrm>
        </p:spPr>
        <p:txBody>
          <a:bodyPr>
            <a:normAutofit fontScale="47500" lnSpcReduction="20000"/>
          </a:bodyPr>
          <a:lstStyle/>
          <a:p>
            <a:r>
              <a:rPr lang="en-US" b="1" dirty="0"/>
              <a:t>What is Over-Injection?</a:t>
            </a:r>
          </a:p>
          <a:p>
            <a:pPr lvl="1"/>
            <a:r>
              <a:rPr lang="en-US" dirty="0"/>
              <a:t>Adding </a:t>
            </a:r>
            <a:r>
              <a:rPr lang="en-US" b="1" dirty="0"/>
              <a:t>too many irrelevant chunks</a:t>
            </a:r>
            <a:r>
              <a:rPr lang="en-US" dirty="0"/>
              <a:t> into the prompt </a:t>
            </a:r>
          </a:p>
          <a:p>
            <a:endParaRPr lang="en-US" dirty="0"/>
          </a:p>
          <a:p>
            <a:r>
              <a:rPr lang="en-US" b="1" dirty="0"/>
              <a:t>Why It’s Dangerous</a:t>
            </a:r>
          </a:p>
          <a:p>
            <a:pPr lvl="1"/>
            <a:r>
              <a:rPr lang="en-US" b="1" dirty="0"/>
              <a:t>Confuses the model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Reduces answer accuracy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Increases hallucination risk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Wastes tokens (cost + latency)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b="1" dirty="0"/>
              <a:t>Example</a:t>
            </a:r>
          </a:p>
          <a:p>
            <a:pPr lvl="1"/>
            <a:r>
              <a:rPr lang="en-US" b="1" dirty="0"/>
              <a:t>Query:</a:t>
            </a:r>
            <a:r>
              <a:rPr lang="en-US" dirty="0"/>
              <a:t> “What is the carry-forward rule for leave?”</a:t>
            </a:r>
          </a:p>
          <a:p>
            <a:pPr lvl="1"/>
            <a:r>
              <a:rPr lang="en-US" dirty="0"/>
              <a:t>Retrieved chunks:</a:t>
            </a:r>
          </a:p>
          <a:p>
            <a:pPr lvl="2"/>
            <a:r>
              <a:rPr lang="en-US" dirty="0"/>
              <a:t>Leave policy</a:t>
            </a:r>
          </a:p>
          <a:p>
            <a:pPr lvl="2"/>
            <a:r>
              <a:rPr lang="en-US" dirty="0"/>
              <a:t>Travel reimbursement</a:t>
            </a:r>
          </a:p>
          <a:p>
            <a:pPr lvl="2"/>
            <a:r>
              <a:rPr lang="en-US" dirty="0"/>
              <a:t>IT security</a:t>
            </a:r>
          </a:p>
          <a:p>
            <a:pPr lvl="2"/>
            <a:r>
              <a:rPr lang="en-US" dirty="0"/>
              <a:t>Code of conduct</a:t>
            </a:r>
          </a:p>
          <a:p>
            <a:pPr lvl="1"/>
            <a:r>
              <a:rPr lang="en-US" dirty="0"/>
              <a:t>Model may mix concepts and give wrong answer</a:t>
            </a:r>
          </a:p>
          <a:p>
            <a:endParaRPr lang="en-US" dirty="0"/>
          </a:p>
          <a:p>
            <a:r>
              <a:rPr lang="en-US" b="1" dirty="0"/>
              <a:t>Key Insight</a:t>
            </a:r>
          </a:p>
          <a:p>
            <a:pPr lvl="1"/>
            <a:r>
              <a:rPr lang="en-US" dirty="0"/>
              <a:t>Noise in → bad answers out</a:t>
            </a:r>
          </a:p>
        </p:txBody>
      </p:sp>
    </p:spTree>
    <p:extLst>
      <p:ext uri="{BB962C8B-B14F-4D97-AF65-F5344CB8AC3E}">
        <p14:creationId xmlns:p14="http://schemas.microsoft.com/office/powerpoint/2010/main" val="13926970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B9BDA-AAD9-8E23-F353-F42E57F41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34468-4994-5009-4F32-C539DFD72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Avoiding Over-Injection of Irrelevant Context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204CD-9CED-79A7-D855-3F72870173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785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How to Avoid It</a:t>
            </a:r>
          </a:p>
          <a:p>
            <a:pPr marL="457200" lvl="1" indent="0">
              <a:buNone/>
            </a:pPr>
            <a:r>
              <a:rPr lang="en-IN" b="1" dirty="0"/>
              <a:t>1. Use better filtering</a:t>
            </a:r>
            <a:endParaRPr lang="en-IN" dirty="0"/>
          </a:p>
          <a:p>
            <a:pPr lvl="2"/>
            <a:r>
              <a:rPr lang="en-IN" dirty="0"/>
              <a:t>Metadata (e.g., only “</a:t>
            </a:r>
            <a:r>
              <a:rPr lang="en-IN" dirty="0" err="1"/>
              <a:t>LeavePolicy</a:t>
            </a:r>
            <a:r>
              <a:rPr lang="en-IN" dirty="0"/>
              <a:t>” docs) </a:t>
            </a:r>
          </a:p>
          <a:p>
            <a:pPr marL="457200" lvl="1" indent="0">
              <a:buNone/>
            </a:pPr>
            <a:r>
              <a:rPr lang="en-IN" b="1" dirty="0"/>
              <a:t>2. Improve embeddings</a:t>
            </a:r>
            <a:endParaRPr lang="en-IN" dirty="0"/>
          </a:p>
          <a:p>
            <a:pPr lvl="2"/>
            <a:r>
              <a:rPr lang="en-IN" dirty="0"/>
              <a:t>More domain-specific embeddings → better relevance </a:t>
            </a:r>
          </a:p>
          <a:p>
            <a:pPr marL="457200" lvl="1" indent="0">
              <a:buNone/>
            </a:pPr>
            <a:r>
              <a:rPr lang="en-IN" b="1" dirty="0"/>
              <a:t>3. Reranking step</a:t>
            </a:r>
            <a:endParaRPr lang="en-IN" dirty="0"/>
          </a:p>
          <a:p>
            <a:pPr lvl="2"/>
            <a:r>
              <a:rPr lang="en-IN" dirty="0"/>
              <a:t>Re-rank retrieved chunks before sending to LLM </a:t>
            </a:r>
          </a:p>
          <a:p>
            <a:pPr marL="457200" lvl="1" indent="0">
              <a:buNone/>
            </a:pPr>
            <a:r>
              <a:rPr lang="en-IN" b="1" dirty="0"/>
              <a:t>4. Thresholding</a:t>
            </a:r>
            <a:endParaRPr lang="en-IN" dirty="0"/>
          </a:p>
          <a:p>
            <a:pPr lvl="2"/>
            <a:r>
              <a:rPr lang="en-IN" dirty="0"/>
              <a:t>Only include chunks above similarity score’</a:t>
            </a:r>
          </a:p>
          <a:p>
            <a:pPr lvl="2"/>
            <a:endParaRPr lang="en-IN" dirty="0"/>
          </a:p>
          <a:p>
            <a:r>
              <a:rPr lang="en-IN" b="1" dirty="0"/>
              <a:t>Simple Strategy</a:t>
            </a:r>
          </a:p>
          <a:p>
            <a:pPr lvl="1"/>
            <a:r>
              <a:rPr lang="en-IN" dirty="0"/>
              <a:t>Instead of:</a:t>
            </a:r>
          </a:p>
          <a:p>
            <a:pPr lvl="2"/>
            <a:r>
              <a:rPr lang="en-IN" dirty="0"/>
              <a:t>“Take top 10 chunks” </a:t>
            </a:r>
          </a:p>
          <a:p>
            <a:pPr lvl="1"/>
            <a:r>
              <a:rPr lang="en-IN" dirty="0"/>
              <a:t>Do:</a:t>
            </a:r>
          </a:p>
          <a:p>
            <a:pPr lvl="2"/>
            <a:r>
              <a:rPr lang="en-IN" dirty="0"/>
              <a:t>“Take top 10 → filter → keep best 4”</a:t>
            </a:r>
          </a:p>
          <a:p>
            <a:pPr lvl="2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61045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797C3-4F8F-225A-7CB1-B0FE9B1EE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79DBF-FC73-09E0-E3DE-3233464C5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It All Together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2FEDF-E015-C937-A57C-959D97DE5B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785"/>
            <a:ext cx="10515600" cy="4351338"/>
          </a:xfrm>
        </p:spPr>
        <p:txBody>
          <a:bodyPr>
            <a:normAutofit/>
          </a:bodyPr>
          <a:lstStyle/>
          <a:p>
            <a:r>
              <a:rPr lang="en-US" b="1" dirty="0"/>
              <a:t>Simple Flow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Retrieve top-k candidates</a:t>
            </a:r>
          </a:p>
          <a:p>
            <a:pPr lvl="1"/>
            <a:r>
              <a:rPr lang="en-US" dirty="0"/>
              <a:t>Ensure good recall</a:t>
            </a:r>
          </a:p>
          <a:p>
            <a:pPr lvl="1"/>
            <a:r>
              <a:rPr lang="en-US" dirty="0"/>
              <a:t>Filter for precision</a:t>
            </a:r>
          </a:p>
          <a:p>
            <a:pPr lvl="1"/>
            <a:r>
              <a:rPr lang="en-US" dirty="0"/>
              <a:t>Select clean context</a:t>
            </a:r>
          </a:p>
          <a:p>
            <a:pPr lvl="1"/>
            <a:r>
              <a:rPr lang="en-US" dirty="0"/>
              <a:t>Send optimized prompt to LLM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19061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6E82C-20D6-BE62-C2BE-13A40A844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EB474-E6FD-15E1-06BB-B9A1E6EEF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D72EB-0C47-7A9D-0A30-CF5CE683E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Tune retrieval parameters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59054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66804-B56F-083C-3F6B-0DF22CC19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952B5-46D9-5C09-0C9A-0DD2CD24B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79826-5E44-C184-8C42-0C25F6EB1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7775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355</TotalTime>
  <Words>602</Words>
  <Application>Microsoft Office PowerPoint</Application>
  <PresentationFormat>Widescreen</PresentationFormat>
  <Paragraphs>146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Neue Haas Grotesk Text Pro</vt:lpstr>
      <vt:lpstr>Office Theme</vt:lpstr>
      <vt:lpstr>1_Office Theme</vt:lpstr>
      <vt:lpstr>Python Enablement for Gen AI</vt:lpstr>
      <vt:lpstr>Retrieval Tuning</vt:lpstr>
      <vt:lpstr>Top-k Selection and Relevance Trade-offs</vt:lpstr>
      <vt:lpstr>What is Top-k?</vt:lpstr>
      <vt:lpstr>What is Top-k?</vt:lpstr>
      <vt:lpstr>Recall vs Precision Balancing</vt:lpstr>
      <vt:lpstr>Recall vs Precision Balancing</vt:lpstr>
      <vt:lpstr>Recall vs Precision Balancing</vt:lpstr>
      <vt:lpstr>Recall vs Precision Balancing</vt:lpstr>
      <vt:lpstr>Prompt Context Window Optimization</vt:lpstr>
      <vt:lpstr>Prompt Context Window Optimization</vt:lpstr>
      <vt:lpstr>Prompt Context Window Optimization</vt:lpstr>
      <vt:lpstr>Avoiding Over-Injection of Irrelevant Context</vt:lpstr>
      <vt:lpstr>Avoiding Over-Injection of Irrelevant Context</vt:lpstr>
      <vt:lpstr>Avoiding Over-Injection of Irrelevant Context</vt:lpstr>
      <vt:lpstr>Putting It All Together</vt:lpstr>
      <vt:lpstr>Demo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Ajay Singala</dc:creator>
  <cp:lastModifiedBy>Ajay Singala</cp:lastModifiedBy>
  <cp:revision>68</cp:revision>
  <dcterms:created xsi:type="dcterms:W3CDTF">2026-04-01T13:32:53Z</dcterms:created>
  <dcterms:modified xsi:type="dcterms:W3CDTF">2026-04-18T09:12:19Z</dcterms:modified>
</cp:coreProperties>
</file>