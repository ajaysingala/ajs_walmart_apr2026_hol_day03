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2" r:id="rId4"/>
    <p:sldId id="264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82" r:id="rId13"/>
    <p:sldId id="290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6CE-E45A-AADF-17CE-62DCAD60B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A8B13-14FB-FC7A-AE8D-0443EF20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AD22-9F50-C88D-0933-C106D418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7579-5794-CC00-C045-B791FA7A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AFCF2-0DEB-5B31-B526-62EBC37E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DAFE-2D34-239C-C11E-0D5AB8D3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BE48-7C5D-6D04-0FBA-FAAF900A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93B1-9F48-9719-053B-3F5ADE53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69231-46AC-F57A-D902-8D0F8895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FE03-8F2E-103E-11D0-A27621A0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43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8430-BCAB-1B0F-AF15-F0E893C4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53EE-F384-CF59-792F-FF4158140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0D31-6CAE-2FB6-153A-B7FF1908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98F5-8D12-377B-65EF-BC8BE45B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9027-F24E-A076-D94C-44638BBC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6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A3F7-DD0E-44ED-4EEB-249AABF7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653D-D49D-A4FA-4A90-363F30C23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49514-69B0-9D75-AB75-91B84E81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F0CED-BEE9-51BC-66AD-2DB565B3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2C858-6BD8-6F6C-18CC-DD61025D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96E2B-3604-BDC8-E54A-4D85F5C2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38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2470-824B-4058-2C01-DBE9700C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00F9-D38B-36A7-7D45-54A62184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7207-1406-713D-69FC-90C0D719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808A8-687A-6C13-295A-A029B1E36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4EB28-8FF5-8565-09EB-0291EA601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54A18-0C92-2393-045B-6CAF563B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FF9CC-DC04-60BA-6C96-F30AC957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9D53-A54F-89EC-CCAB-979C254D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3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2C45-D1E3-2607-6828-9CCF3A96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398FC-392A-FDAB-C7AE-E6210BBD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44E78-47C2-5F62-E4D8-2E5E7FD1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D9E7-7BAD-60B2-B129-E58DFACE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89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6826F-7C9B-389B-D3BE-3E86EEA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A1C3F-136F-9E45-0514-741B209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1C8C-4DBE-3D21-FAB2-B0DB4A6D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2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5A2E-0099-9832-239F-CA04757E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FC63F-2D86-A29C-17EC-75FA93EC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19F38-C99B-AA2D-6575-D97460610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C0AA0-FA71-3666-DC1C-D1D8732E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92665-8BD3-E58B-6F97-5F3F0AE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664A6-5CAB-99D8-788D-084B8C74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30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7889-AEA8-4506-EEA2-454B0813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FF9DB-8691-04E9-6B36-86362522E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98241-823E-96F4-D240-F61FF2CAA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39A56-F6AD-8E3F-E2B7-79D0D078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6FDB3-0344-BE41-9AB9-32C3CF2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70EA6-15F8-B839-7E6E-C5576FCE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1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7AAF-EE17-169F-1AB6-E30AED05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00CEB-5076-D9B7-2D28-2017F009B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8B1B-89D7-F2B2-62B6-12397E62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3F9E-F277-4FED-D74A-80D7A5A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B7DE-F8D2-63C1-1000-F7956356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2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A0CC6-6B5F-7A14-1AF5-214FD7F5B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75CF6-B132-E92D-42E9-B6BEF4BAF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F2626-8B84-38A1-4301-6C45FB0C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5142-E250-53BE-3BE7-1F85F5F0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4A1F-596C-82D3-CF4F-46032471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5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12CF-0A97-D6E9-08A7-94B404CA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4C72-1FF5-95FF-2EF5-016E4E776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A4C1B-20B9-D303-48D5-5152F3EC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0320-3EA4-D740-5867-EAF5C6D9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7687-1800-6FBB-6366-35F680C7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42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5846-BF1A-FDA3-AF21-CBDF381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D219-9850-A749-A812-DCC6A050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396F-1B23-F3A3-0511-71220548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EF52-9446-668B-36C9-2DBE413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32EA-BB8E-1A78-E352-195F8DE4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257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4D0-95D6-2A03-AEFF-31BFE64B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1E04-482B-9185-BE1B-F30C178B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9F5A-895A-3E20-0F99-18FC81F5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9B35-6AE6-0716-0A3B-488AE99C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C7CD-8462-7600-CB80-9ADFC4A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0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805A-E41A-7AD3-9215-E249843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EFB5-C607-A863-1696-A0DCDD2A6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BF1F4-07D4-6A3A-23A7-7F12DC4E7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6EC5-E88E-A84C-B7F6-A24DA323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5988-64CC-0BEF-4262-41FDF2C6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38D28-03B2-C58F-3362-A1606E2F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7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8FA1-C0E2-F799-F99A-14B66167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E08B-D183-C98F-15F4-3923564B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17D-6738-8322-64CF-3306D9E90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13EF-8921-21AF-446E-43A50265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E4F52-35E7-61A4-8AF5-CC7A3A98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5B8D9-D5AA-5FBB-6C8B-94BD962B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B31D-3BC9-100D-3FFE-311A0E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7A129-04E8-C66F-66B9-C93EBD40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23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F029-C3BC-0946-5B46-27A62C27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DA22-AFE9-0D01-CE95-7689B19E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0DA7-E55B-3D04-08C6-1A5D4AC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3DB6-CC78-4E99-BF39-B6631CF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5020-86FF-29D2-CF0B-41FA1C4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2C0C5-2392-1961-1D1D-25D5804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E48B-1C67-4D12-8E10-27AC939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76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026-103E-B109-AB8C-6D44A51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64F4-13F5-17BC-858F-A91D84A4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1AB-963E-1504-72A4-A1AB1705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3EF0-71CA-2AA7-FBD0-CEDA44B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5D4D8-83C7-F4C3-84E7-A35FB34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41F8-F4E2-CAA8-4C5E-A526C22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34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75A-F806-44FF-F25C-125C9BF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945C1-A2FF-5B51-8FCC-CD265E642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DE-6EF8-8E36-0FA4-D6C69C6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6497-FC12-FC5C-D1BE-CB3468C5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04F6-DC90-44B8-7B77-6063A2FE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B8FD-00F8-B052-388B-DA323B8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792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9D5-D78B-51A4-D507-10241BD8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A1C5-E115-C982-D300-680CB9BC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A9CA-6D71-4F05-0745-C5908856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602-75B8-A654-AB57-B81FC53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E863-DEB4-4044-F68B-76F80BE5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279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6B2D-9F42-4E6C-811E-EBB1C46CF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B7E0C-5FD8-5909-7828-CFF87FAF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9456-A7F9-B919-EDFF-77A9B8A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7C0-423A-49F8-7B06-1915C0E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D5D8-78EF-1E5F-018E-6A0B3F2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856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3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39B7D-65D6-46E6-4D0D-5248DE31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C1B3-42BF-1C76-BE2B-E8E0F8BF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7298E-FF3A-263A-A4F6-F667A54D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327C-5432-928A-78F3-525A01773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ACEFF-1A2F-E90C-1E3A-45B9DFF32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0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E9012-068E-580E-8B8F-2451EB4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32D6-39DA-958D-51DB-1D71DCBE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5381-025A-C3E2-9A48-96CFE8B98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B3F-F87A-E427-9837-304E169A5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7EC7-7BD1-4047-A8C3-498FD35E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831E-D1DB-BDE8-DA0F-9D8044D8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Enablement for Gen 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15B3B-2A6A-942B-EC5D-131373CA5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J.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13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74A9-1785-AE64-2B0A-D1C59FC7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RAG Failure Analysis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5BD1-2BC9-18E1-BE9F-FC9DE6E2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00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39696-2F4E-A3CB-2B45-0571098F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/>
              <a:t>Hallucinations due to Poor Retrieval</a:t>
            </a:r>
            <a:endParaRPr lang="en-US" sz="7800" b="1" dirty="0"/>
          </a:p>
        </p:txBody>
      </p:sp>
    </p:spTree>
    <p:extLst>
      <p:ext uri="{BB962C8B-B14F-4D97-AF65-F5344CB8AC3E}">
        <p14:creationId xmlns:p14="http://schemas.microsoft.com/office/powerpoint/2010/main" val="3004392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59B8-D4A2-2D92-2A2F-082541850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9F64-7883-1807-4832-BAE987145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Hallucinations due to Poor Retrieval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EC50D-7FBB-3A49-59D8-0B87EAE53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What happens?</a:t>
            </a:r>
          </a:p>
          <a:p>
            <a:pPr lvl="1"/>
            <a:r>
              <a:rPr lang="en-IN" dirty="0"/>
              <a:t>The model </a:t>
            </a:r>
            <a:r>
              <a:rPr lang="en-IN" b="1" dirty="0"/>
              <a:t>generates incorrect or fabricated answers</a:t>
            </a:r>
            <a:r>
              <a:rPr lang="en-IN" dirty="0"/>
              <a:t> because the retrieved context is:</a:t>
            </a:r>
          </a:p>
          <a:p>
            <a:pPr lvl="2"/>
            <a:r>
              <a:rPr lang="en-IN" dirty="0"/>
              <a:t>Irrelevant </a:t>
            </a:r>
          </a:p>
          <a:p>
            <a:pPr lvl="2"/>
            <a:r>
              <a:rPr lang="en-IN" dirty="0"/>
              <a:t>Incomplete </a:t>
            </a:r>
          </a:p>
          <a:p>
            <a:pPr lvl="2"/>
            <a:r>
              <a:rPr lang="en-IN" dirty="0"/>
              <a:t>Missing key facts </a:t>
            </a:r>
          </a:p>
          <a:p>
            <a:pPr lvl="1"/>
            <a:r>
              <a:rPr lang="en-IN" dirty="0"/>
              <a:t>Important: In RAG, hallucination is often </a:t>
            </a:r>
            <a:r>
              <a:rPr lang="en-IN" b="1" dirty="0"/>
              <a:t>retrieval failure disguised as generation failure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Why it happens</a:t>
            </a:r>
          </a:p>
          <a:p>
            <a:pPr lvl="1"/>
            <a:r>
              <a:rPr lang="en-IN" dirty="0"/>
              <a:t>Wrong chunks retrieved (semantic mismatch) </a:t>
            </a:r>
          </a:p>
          <a:p>
            <a:pPr lvl="1"/>
            <a:r>
              <a:rPr lang="en-IN" dirty="0"/>
              <a:t>Top-k too small → missed relevant info </a:t>
            </a:r>
          </a:p>
          <a:p>
            <a:pPr lvl="1"/>
            <a:r>
              <a:rPr lang="en-IN" dirty="0"/>
              <a:t>Poor embeddings (query ≠ document meaning) </a:t>
            </a:r>
          </a:p>
          <a:p>
            <a:pPr lvl="1"/>
            <a:r>
              <a:rPr lang="en-IN" dirty="0"/>
              <a:t>Ambiguous queries</a:t>
            </a:r>
          </a:p>
          <a:p>
            <a:endParaRPr lang="en-US" b="1" dirty="0"/>
          </a:p>
          <a:p>
            <a:r>
              <a:rPr lang="en-US" b="1" dirty="0"/>
              <a:t>Key Insight</a:t>
            </a:r>
          </a:p>
          <a:p>
            <a:pPr lvl="1"/>
            <a:r>
              <a:rPr lang="en-US" dirty="0"/>
              <a:t>If the right context is not retrieved, the model will </a:t>
            </a:r>
            <a:r>
              <a:rPr lang="en-US" b="1" dirty="0"/>
              <a:t>guess confidently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085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F9CAC-A7F0-C6D0-270A-F9B41C52F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47591A-BC54-3412-E83C-C29DF9EC7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B6BB28-6A86-64AF-ADDB-344F7E8A8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/>
              <a:t>Empty or Low-Relevance Retrieval Cases</a:t>
            </a:r>
            <a:endParaRPr lang="en-US" sz="7800" b="1" dirty="0"/>
          </a:p>
        </p:txBody>
      </p:sp>
    </p:spTree>
    <p:extLst>
      <p:ext uri="{BB962C8B-B14F-4D97-AF65-F5344CB8AC3E}">
        <p14:creationId xmlns:p14="http://schemas.microsoft.com/office/powerpoint/2010/main" val="2523160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B4101-BDB6-66B8-A2E9-AF083FF6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0DD5D-0574-D15B-0A37-D33D4C28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Empty or Low-Relevance Retrieval Cases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55778-D72D-C233-20FF-6F7EABED6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What happens?</a:t>
            </a:r>
          </a:p>
          <a:p>
            <a:pPr lvl="1"/>
            <a:r>
              <a:rPr lang="en-IN" dirty="0"/>
              <a:t>Retriever returns:</a:t>
            </a:r>
          </a:p>
          <a:p>
            <a:pPr lvl="2"/>
            <a:r>
              <a:rPr lang="en-IN" dirty="0"/>
              <a:t>No documents </a:t>
            </a:r>
          </a:p>
          <a:p>
            <a:pPr lvl="2"/>
            <a:r>
              <a:rPr lang="en-IN" dirty="0"/>
              <a:t>Or weakly related documents </a:t>
            </a:r>
          </a:p>
          <a:p>
            <a:endParaRPr lang="en-IN" b="1" dirty="0"/>
          </a:p>
          <a:p>
            <a:r>
              <a:rPr lang="en-IN" b="1" dirty="0"/>
              <a:t>Why it happens</a:t>
            </a:r>
          </a:p>
          <a:p>
            <a:pPr lvl="1"/>
            <a:r>
              <a:rPr lang="en-IN" dirty="0"/>
              <a:t>Query doesn’t match stored chunks </a:t>
            </a:r>
          </a:p>
          <a:p>
            <a:pPr lvl="1"/>
            <a:r>
              <a:rPr lang="en-IN" dirty="0"/>
              <a:t>Vocabulary mismatch (e.g., “vacation” vs “leave”) </a:t>
            </a:r>
          </a:p>
          <a:p>
            <a:pPr lvl="1"/>
            <a:r>
              <a:rPr lang="en-IN" dirty="0"/>
              <a:t>Chunking too coarse (inferior) or too small </a:t>
            </a:r>
          </a:p>
          <a:p>
            <a:pPr lvl="1"/>
            <a:r>
              <a:rPr lang="en-IN" dirty="0"/>
              <a:t>Metadata filters too strict</a:t>
            </a:r>
          </a:p>
          <a:p>
            <a:endParaRPr lang="en-US" b="1" dirty="0"/>
          </a:p>
          <a:p>
            <a:r>
              <a:rPr lang="en-US" b="1" dirty="0"/>
              <a:t>Key Insight</a:t>
            </a:r>
          </a:p>
          <a:p>
            <a:pPr lvl="1"/>
            <a:r>
              <a:rPr lang="en-US" dirty="0"/>
              <a:t>No context = model falls back to pre-trained knowledge (not your data)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5627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58428-098E-5638-31BC-62792532F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7045550-C48D-65C8-4444-EB4D918AE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40B96-7A63-62B8-F438-02B861CD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/>
              <a:t>Over-Retrieval and Noisy Context Issues</a:t>
            </a:r>
            <a:endParaRPr lang="en-US" sz="7800" b="1" dirty="0"/>
          </a:p>
        </p:txBody>
      </p:sp>
    </p:spTree>
    <p:extLst>
      <p:ext uri="{BB962C8B-B14F-4D97-AF65-F5344CB8AC3E}">
        <p14:creationId xmlns:p14="http://schemas.microsoft.com/office/powerpoint/2010/main" val="2508661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55C66-FAFB-9A21-693B-0CA13B46A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66772-6A48-A704-E99F-9C102B037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Over-Retrieval and Noisy Context Issues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BBBE1-D4D4-1D05-8B3D-282213090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What happens?</a:t>
            </a:r>
          </a:p>
          <a:p>
            <a:pPr lvl="1"/>
            <a:r>
              <a:rPr lang="en-US" dirty="0"/>
              <a:t>Too many documents are retrieved → context becomes:</a:t>
            </a:r>
          </a:p>
          <a:p>
            <a:pPr lvl="2"/>
            <a:r>
              <a:rPr lang="en-US" dirty="0"/>
              <a:t>Large </a:t>
            </a:r>
          </a:p>
          <a:p>
            <a:pPr lvl="2"/>
            <a:r>
              <a:rPr lang="en-US" dirty="0"/>
              <a:t>Mixed </a:t>
            </a:r>
          </a:p>
          <a:p>
            <a:pPr lvl="2"/>
            <a:r>
              <a:rPr lang="en-US" dirty="0"/>
              <a:t>Conflicting </a:t>
            </a:r>
          </a:p>
          <a:p>
            <a:endParaRPr lang="en-US" dirty="0"/>
          </a:p>
          <a:p>
            <a:r>
              <a:rPr lang="en-US" b="1" dirty="0"/>
              <a:t>Why it happens</a:t>
            </a:r>
          </a:p>
          <a:p>
            <a:pPr lvl="1"/>
            <a:r>
              <a:rPr lang="en-US" dirty="0"/>
              <a:t>Top-k too high </a:t>
            </a:r>
          </a:p>
          <a:p>
            <a:pPr lvl="1"/>
            <a:r>
              <a:rPr lang="en-US" dirty="0"/>
              <a:t>No filtering or ranking refinement </a:t>
            </a:r>
          </a:p>
          <a:p>
            <a:pPr lvl="1"/>
            <a:r>
              <a:rPr lang="en-US" dirty="0"/>
              <a:t>Chunk overlap duplication </a:t>
            </a:r>
          </a:p>
          <a:p>
            <a:pPr lvl="1"/>
            <a:r>
              <a:rPr lang="en-US" dirty="0"/>
              <a:t>Multiple similar but slightly different docs</a:t>
            </a:r>
          </a:p>
          <a:p>
            <a:endParaRPr lang="en-US" dirty="0"/>
          </a:p>
          <a:p>
            <a:r>
              <a:rPr lang="en-US" b="1" dirty="0"/>
              <a:t>Key Insight</a:t>
            </a:r>
          </a:p>
          <a:p>
            <a:pPr lvl="1"/>
            <a:r>
              <a:rPr lang="en-US" dirty="0"/>
              <a:t>More data ≠ better answers</a:t>
            </a:r>
          </a:p>
          <a:p>
            <a:pPr lvl="1"/>
            <a:r>
              <a:rPr lang="en-US" dirty="0"/>
              <a:t>Too much context = </a:t>
            </a:r>
            <a:r>
              <a:rPr lang="en-US" b="1" dirty="0"/>
              <a:t>signal gets diluted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844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A19665-8A55-0B9C-33F5-484198551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9DBE96-1AC8-5A89-67DD-9EA4821B4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0303B-3C8F-E302-892F-83C8FC22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7200" dirty="0"/>
              <a:t>Debugging RAG Quality Issues</a:t>
            </a:r>
            <a:endParaRPr lang="en-US" sz="7800" b="1" dirty="0"/>
          </a:p>
        </p:txBody>
      </p:sp>
    </p:spTree>
    <p:extLst>
      <p:ext uri="{BB962C8B-B14F-4D97-AF65-F5344CB8AC3E}">
        <p14:creationId xmlns:p14="http://schemas.microsoft.com/office/powerpoint/2010/main" val="3656139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7BB62-8411-1BEB-E91C-667E304E7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016A3-09DF-0F0A-A38C-42BB9AA39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Debugging RAG Quality Issues: </a:t>
            </a:r>
            <a:br>
              <a:rPr lang="en-IN" dirty="0"/>
            </a:br>
            <a:r>
              <a:rPr lang="en-IN" dirty="0"/>
              <a:t>Step-by-step Debugging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55881-F098-2901-13D8-F6D1E1F47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r>
              <a:rPr lang="en-US" sz="2900" b="1" dirty="0"/>
              <a:t>1. Check Retrieval First (NOT the LLM)</a:t>
            </a:r>
          </a:p>
          <a:p>
            <a:pPr lvl="1"/>
            <a:r>
              <a:rPr lang="en-US" sz="2500" dirty="0"/>
              <a:t>Ask:</a:t>
            </a:r>
          </a:p>
          <a:p>
            <a:pPr lvl="2"/>
            <a:r>
              <a:rPr lang="en-US" sz="2200" dirty="0"/>
              <a:t>Are the retrieved chunks relevant? </a:t>
            </a:r>
          </a:p>
          <a:p>
            <a:pPr lvl="2"/>
            <a:r>
              <a:rPr lang="en-US" sz="2200" dirty="0"/>
              <a:t>Would a human answer correctly by using this context? </a:t>
            </a:r>
          </a:p>
          <a:p>
            <a:pPr lvl="2"/>
            <a:r>
              <a:rPr lang="en-US" sz="2200" dirty="0"/>
              <a:t>If NO → retrieval problem</a:t>
            </a:r>
          </a:p>
          <a:p>
            <a:endParaRPr lang="en-US" sz="2900" dirty="0"/>
          </a:p>
          <a:p>
            <a:r>
              <a:rPr lang="en-US" sz="2900" b="1" dirty="0"/>
              <a:t>2. Inspect Top-k Results</a:t>
            </a:r>
          </a:p>
          <a:p>
            <a:pPr lvl="1"/>
            <a:r>
              <a:rPr lang="en-US" sz="2500" dirty="0"/>
              <a:t>Are correct documents missing? </a:t>
            </a:r>
          </a:p>
          <a:p>
            <a:pPr lvl="1"/>
            <a:r>
              <a:rPr lang="en-US" sz="2500" dirty="0"/>
              <a:t>Are irrelevant ones included? </a:t>
            </a:r>
          </a:p>
          <a:p>
            <a:pPr lvl="1"/>
            <a:r>
              <a:rPr lang="en-US" sz="2500" dirty="0"/>
              <a:t> Tune:</a:t>
            </a:r>
          </a:p>
          <a:p>
            <a:pPr lvl="1"/>
            <a:r>
              <a:rPr lang="en-US" sz="2500" dirty="0"/>
              <a:t>Top-k value </a:t>
            </a:r>
          </a:p>
          <a:p>
            <a:pPr lvl="1"/>
            <a:r>
              <a:rPr lang="en-US" sz="2500" dirty="0"/>
              <a:t>Ranking </a:t>
            </a:r>
          </a:p>
          <a:p>
            <a:pPr lvl="1"/>
            <a:endParaRPr lang="en-US" dirty="0"/>
          </a:p>
          <a:p>
            <a:r>
              <a:rPr lang="en-US" sz="2900" b="1" dirty="0"/>
              <a:t>3. Look at the Query</a:t>
            </a:r>
          </a:p>
          <a:p>
            <a:pPr lvl="1"/>
            <a:r>
              <a:rPr lang="en-US" sz="2500" dirty="0"/>
              <a:t>Is it too vague? </a:t>
            </a:r>
          </a:p>
          <a:p>
            <a:pPr lvl="1"/>
            <a:r>
              <a:rPr lang="en-US" sz="2500" dirty="0"/>
              <a:t>Does it match document language? </a:t>
            </a:r>
          </a:p>
          <a:p>
            <a:pPr lvl="1"/>
            <a:r>
              <a:rPr lang="en-US" sz="2500" dirty="0"/>
              <a:t>Example:</a:t>
            </a:r>
          </a:p>
          <a:p>
            <a:pPr lvl="2"/>
            <a:r>
              <a:rPr lang="en-US" sz="2200" dirty="0"/>
              <a:t>“leave policy” vs “time-off policy” </a:t>
            </a:r>
          </a:p>
          <a:p>
            <a:pPr lvl="1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E297C4-373C-D457-748F-A3D7641A6741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4. Check Chunk Quality</a:t>
            </a:r>
          </a:p>
          <a:p>
            <a:pPr lvl="1"/>
            <a:r>
              <a:rPr lang="en-US" sz="1400" dirty="0"/>
              <a:t>Too big → irrelevant info </a:t>
            </a:r>
          </a:p>
          <a:p>
            <a:pPr lvl="1"/>
            <a:r>
              <a:rPr lang="en-US" sz="1400" dirty="0"/>
              <a:t>Too small → missing context </a:t>
            </a:r>
          </a:p>
          <a:p>
            <a:endParaRPr lang="en-US" sz="1600" dirty="0"/>
          </a:p>
          <a:p>
            <a:r>
              <a:rPr lang="en-US" sz="1600" b="1" dirty="0"/>
              <a:t>5. Analyze Prompt Instructions</a:t>
            </a:r>
          </a:p>
          <a:p>
            <a:pPr lvl="1"/>
            <a:r>
              <a:rPr lang="en-US" sz="1400" dirty="0"/>
              <a:t>Does prompt force grounding? </a:t>
            </a:r>
          </a:p>
          <a:p>
            <a:pPr lvl="1"/>
            <a:r>
              <a:rPr lang="en-US" sz="1400" dirty="0"/>
              <a:t>Good instruction example:</a:t>
            </a:r>
          </a:p>
          <a:p>
            <a:pPr lvl="1"/>
            <a:r>
              <a:rPr lang="en-US" sz="1400" dirty="0"/>
              <a:t>“Answer ONLY from the provided context. If not found, say ‘Not available’.”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44029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E82C-20D6-BE62-C2BE-13A40A844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B474-E6FD-15E1-06BB-B9A1E6EE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Failure Patterns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BE31EC-188A-A97C-3C57-8EF022B295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0368916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955655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535730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754950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Root Cause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512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Hallucination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Missing/irrelevant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Improve retrieval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354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Generic answers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 chunking/query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2715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Conflicting answers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 many docs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 top-k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328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Wrong domain answer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filtering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 metadata filters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657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Fabricated answers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Strict prompt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5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905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EAEA7-4D5C-F83D-84C0-48B76F4EA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D7AF-572A-0769-1045-7DFCAD051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7E143-D7C2-1A17-9AE5-D73C6B1AE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RAG Failure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8239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6804-B56F-083C-3F6B-0DF22CC1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52B5-46D9-5C09-0C9A-0DD2CD24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9826-5E44-C184-8C42-0C25F6EB1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77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423</Words>
  <Application>Microsoft Office PowerPoint</Application>
  <PresentationFormat>Widescreen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Neue Haas Grotesk Text Pro</vt:lpstr>
      <vt:lpstr>Office Theme</vt:lpstr>
      <vt:lpstr>1_Office Theme</vt:lpstr>
      <vt:lpstr>Python Enablement for Gen AI</vt:lpstr>
      <vt:lpstr>RAG Failure Analysis</vt:lpstr>
      <vt:lpstr>Hallucinations due to Poor Retrieval</vt:lpstr>
      <vt:lpstr>Hallucinations due to Poor Retrieval</vt:lpstr>
      <vt:lpstr>Empty or Low-Relevance Retrieval Cases</vt:lpstr>
      <vt:lpstr>Empty or Low-Relevance Retrieval Cases</vt:lpstr>
      <vt:lpstr>Over-Retrieval and Noisy Context Issues</vt:lpstr>
      <vt:lpstr>Over-Retrieval and Noisy Context Issues</vt:lpstr>
      <vt:lpstr>Debugging RAG Quality Issues</vt:lpstr>
      <vt:lpstr>Debugging RAG Quality Issues:  Step-by-step Debugging Approach</vt:lpstr>
      <vt:lpstr>Common Failure Patterns</vt:lpstr>
      <vt:lpstr>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85</cp:revision>
  <dcterms:created xsi:type="dcterms:W3CDTF">2026-04-01T13:32:53Z</dcterms:created>
  <dcterms:modified xsi:type="dcterms:W3CDTF">2026-04-18T09:26:10Z</dcterms:modified>
</cp:coreProperties>
</file>