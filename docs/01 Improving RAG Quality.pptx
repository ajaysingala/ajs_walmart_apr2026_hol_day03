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257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82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Enablement for Gen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Improving RAG Quality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7200" dirty="0"/>
              <a:t>Limitations of top-k retrieval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EBB8-F88F-D666-F290-2900F35F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Top-K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F1E4-E4A4-82BE-0128-F23052451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Top-K?</a:t>
            </a:r>
          </a:p>
          <a:p>
            <a:pPr lvl="1"/>
            <a:r>
              <a:rPr lang="en-US" dirty="0"/>
              <a:t>Retrieve the </a:t>
            </a:r>
            <a:r>
              <a:rPr lang="en-US" b="1" dirty="0"/>
              <a:t>top K most similar chunks</a:t>
            </a:r>
            <a:r>
              <a:rPr lang="en-US" dirty="0"/>
              <a:t> from the vector store </a:t>
            </a:r>
          </a:p>
          <a:p>
            <a:pPr lvl="1"/>
            <a:r>
              <a:rPr lang="en-US" dirty="0"/>
              <a:t>Example: “Give me top 3 relevant chunks”</a:t>
            </a:r>
          </a:p>
          <a:p>
            <a:r>
              <a:rPr lang="en-IN" dirty="0"/>
              <a:t>Key Limitations:</a:t>
            </a:r>
          </a:p>
          <a:p>
            <a:pPr lvl="1"/>
            <a:r>
              <a:rPr lang="en-IN" dirty="0"/>
              <a:t>May miss critical information</a:t>
            </a:r>
          </a:p>
          <a:p>
            <a:pPr lvl="1"/>
            <a:r>
              <a:rPr lang="en-IN" dirty="0"/>
              <a:t>Semantic similarity ≠ relevance</a:t>
            </a:r>
          </a:p>
          <a:p>
            <a:pPr lvl="1"/>
            <a:r>
              <a:rPr lang="en-IN" dirty="0"/>
              <a:t>Fixed K is inefficient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60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95BB-4124-273B-AEB1-F5CC2A77A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3225-6DA6-86CD-F36E-D6894BE0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Limitations of Top-K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5D4B9-06B1-7427-1D5A-9C3DC9FA1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May miss critical information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most relevant chunk may not be in top K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Especially when: </a:t>
            </a:r>
          </a:p>
          <a:p>
            <a:pPr lvl="2"/>
            <a:r>
              <a:rPr lang="en-US" dirty="0"/>
              <a:t>Query is vague </a:t>
            </a:r>
          </a:p>
          <a:p>
            <a:pPr lvl="2"/>
            <a:r>
              <a:rPr lang="en-US" dirty="0"/>
              <a:t>Data is large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Query: </a:t>
            </a:r>
            <a:r>
              <a:rPr lang="en-US" i="1" dirty="0"/>
              <a:t>“</a:t>
            </a: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What are employee travel rules?</a:t>
            </a:r>
            <a:r>
              <a:rPr lang="en-US" i="1" dirty="0"/>
              <a:t>”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Top 3 chunks may include: </a:t>
            </a:r>
          </a:p>
          <a:p>
            <a:pPr lvl="3"/>
            <a:r>
              <a:rPr lang="en-US" dirty="0"/>
              <a:t>Flight booking </a:t>
            </a:r>
          </a:p>
          <a:p>
            <a:pPr lvl="3"/>
            <a:r>
              <a:rPr lang="en-US" dirty="0"/>
              <a:t>Expense claims </a:t>
            </a:r>
          </a:p>
          <a:p>
            <a:pPr lvl="3"/>
            <a:r>
              <a:rPr lang="en-US" dirty="0"/>
              <a:t>Hotel policy </a:t>
            </a:r>
          </a:p>
          <a:p>
            <a:pPr lvl="2"/>
            <a:r>
              <a:rPr lang="en-US" dirty="0"/>
              <a:t>But </a:t>
            </a:r>
            <a:r>
              <a:rPr lang="en-US" b="1" dirty="0"/>
              <a:t>miss “approval requirements”</a:t>
            </a:r>
            <a:r>
              <a:rPr lang="en-US" dirty="0"/>
              <a:t> → incomplete answer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49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685C6-0C9C-8D9D-C0D1-D5B27E78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1EF3-5D5E-08A0-1D7C-60F91FC0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Limitations of Top-K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48BD2-D936-604D-16C0-ABEEE284D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Semantic similarity ≠ relevance</a:t>
            </a:r>
          </a:p>
          <a:p>
            <a:pPr lvl="1"/>
            <a:r>
              <a:rPr lang="en-US" dirty="0"/>
              <a:t>Embeddings match </a:t>
            </a:r>
            <a:r>
              <a:rPr lang="en-US" b="1" dirty="0"/>
              <a:t>meaning</a:t>
            </a:r>
            <a:r>
              <a:rPr lang="en-US" dirty="0"/>
              <a:t>, not </a:t>
            </a:r>
            <a:r>
              <a:rPr lang="en-US" b="1" dirty="0"/>
              <a:t>intent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Query: </a:t>
            </a:r>
            <a:r>
              <a:rPr lang="en-US" i="1" dirty="0"/>
              <a:t>“</a:t>
            </a: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leave policy for maternity</a:t>
            </a:r>
            <a:r>
              <a:rPr lang="en-US" i="1" dirty="0"/>
              <a:t>”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Retrieved chunk: </a:t>
            </a:r>
            <a:r>
              <a:rPr lang="en-US" i="1" dirty="0"/>
              <a:t>“</a:t>
            </a: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general leave rules</a:t>
            </a:r>
            <a:r>
              <a:rPr lang="en-US" i="1" dirty="0"/>
              <a:t>”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Close meaning, but </a:t>
            </a:r>
            <a:r>
              <a:rPr lang="en-US" b="1" dirty="0"/>
              <a:t>wrong context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6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82C9F-117B-4E98-AE0B-31529AC8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D459-1107-70E7-977E-0CBA5BFF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Limitations of Top-K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DB8BC-DA73-DFB9-A397-E69684AD3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Fixed K is inefficient</a:t>
            </a:r>
          </a:p>
          <a:p>
            <a:pPr lvl="1"/>
            <a:r>
              <a:rPr lang="en-US" dirty="0"/>
              <a:t>Small K → miss info </a:t>
            </a:r>
          </a:p>
          <a:p>
            <a:pPr lvl="1"/>
            <a:r>
              <a:rPr lang="en-US" dirty="0"/>
              <a:t>Large K → too much noise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Trade-off:</a:t>
            </a:r>
          </a:p>
          <a:p>
            <a:pPr lvl="2"/>
            <a:r>
              <a:rPr lang="en-US" dirty="0"/>
              <a:t>K=2 → incomplete </a:t>
            </a:r>
          </a:p>
          <a:p>
            <a:pPr lvl="2"/>
            <a:r>
              <a:rPr lang="en-US" dirty="0"/>
              <a:t>K=10 → irrelevant clutter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59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12EA4-41D5-BE9E-0A66-853B09D4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AF2990-75A6-DA72-1878-233B1420A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74D61-6667-C5B6-3CEC-620B2705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Query Reformulation Fundamentals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500421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1CF05-4DDB-0A5D-FCE5-CA24F427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78CC1-084D-117C-D2A4-5CB3597E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Reformulation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42CF7-D1F3-9C7D-F1BD-677E78DB9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</a:t>
            </a:r>
          </a:p>
          <a:p>
            <a:pPr lvl="1"/>
            <a:r>
              <a:rPr lang="en-US" dirty="0"/>
              <a:t>User queries are often:</a:t>
            </a:r>
          </a:p>
          <a:p>
            <a:pPr lvl="2"/>
            <a:r>
              <a:rPr lang="en-US" dirty="0"/>
              <a:t>Short </a:t>
            </a:r>
          </a:p>
          <a:p>
            <a:pPr lvl="2"/>
            <a:r>
              <a:rPr lang="en-US" dirty="0"/>
              <a:t>Ambiguous </a:t>
            </a:r>
          </a:p>
          <a:p>
            <a:pPr lvl="2"/>
            <a:r>
              <a:rPr lang="en-US" dirty="0"/>
              <a:t>Missing keywords</a:t>
            </a:r>
          </a:p>
          <a:p>
            <a:r>
              <a:rPr lang="en-US" b="1" dirty="0"/>
              <a:t>What is Query Reformulation?</a:t>
            </a:r>
          </a:p>
          <a:p>
            <a:pPr lvl="1"/>
            <a:r>
              <a:rPr lang="en-US" dirty="0"/>
              <a:t>Improving the query before retrieval.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86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553B-05EF-419D-4DD1-A1DB7C637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C2AF-B057-121C-1966-793D4784B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Query Reformulation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8BB5-B15E-4B93-C006-F100F4498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Query Expansion</a:t>
            </a:r>
          </a:p>
          <a:p>
            <a:pPr lvl="1"/>
            <a:r>
              <a:rPr lang="en-US" dirty="0"/>
              <a:t>Add more context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User: </a:t>
            </a:r>
            <a:r>
              <a:rPr lang="en-US" i="1" dirty="0"/>
              <a:t>“</a:t>
            </a: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leave policy</a:t>
            </a:r>
            <a:r>
              <a:rPr lang="en-US" i="1" dirty="0"/>
              <a:t>”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Reformulated: </a:t>
            </a:r>
          </a:p>
          <a:p>
            <a:pPr lvl="3"/>
            <a:r>
              <a:rPr lang="en-US" i="1" dirty="0"/>
              <a:t>“</a:t>
            </a: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employee leave policy rules, eligibility, types of leave, approval process</a:t>
            </a:r>
            <a:r>
              <a:rPr lang="en-US" i="1" dirty="0"/>
              <a:t>”</a:t>
            </a:r>
          </a:p>
          <a:p>
            <a:r>
              <a:rPr lang="en-US" b="1" dirty="0"/>
              <a:t>Query Clarification</a:t>
            </a:r>
          </a:p>
          <a:p>
            <a:pPr lvl="1"/>
            <a:r>
              <a:rPr lang="en-US" dirty="0"/>
              <a:t>Make vague queries specific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i="1" dirty="0"/>
              <a:t>“</a:t>
            </a: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travel rules</a:t>
            </a:r>
            <a:r>
              <a:rPr lang="en-US" i="1" dirty="0"/>
              <a:t>”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“</a:t>
            </a: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corporate travel reimbursement policy for employees</a:t>
            </a:r>
            <a:r>
              <a:rPr lang="en-US" i="1" dirty="0"/>
              <a:t>”</a:t>
            </a:r>
            <a:endParaRPr lang="en-US" dirty="0"/>
          </a:p>
          <a:p>
            <a:r>
              <a:rPr lang="en-IN" b="1" dirty="0"/>
              <a:t>Multi-query approach</a:t>
            </a:r>
          </a:p>
          <a:p>
            <a:pPr lvl="1"/>
            <a:r>
              <a:rPr lang="en-IN" dirty="0"/>
              <a:t>Break into multiple queries</a:t>
            </a:r>
          </a:p>
          <a:p>
            <a:pPr lvl="1"/>
            <a:r>
              <a:rPr lang="en-IN" dirty="0"/>
              <a:t>Example </a:t>
            </a:r>
          </a:p>
          <a:p>
            <a:pPr lvl="2"/>
            <a:r>
              <a:rPr lang="en-IN" dirty="0"/>
              <a:t>User asks: </a:t>
            </a:r>
            <a:r>
              <a:rPr lang="en-IN" i="1" dirty="0"/>
              <a:t>“</a:t>
            </a:r>
            <a:r>
              <a:rPr lang="en-IN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Explain leave and travel policy</a:t>
            </a:r>
            <a:r>
              <a:rPr lang="en-IN" i="1" dirty="0"/>
              <a:t>”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System generates:</a:t>
            </a:r>
          </a:p>
          <a:p>
            <a:pPr lvl="3"/>
            <a:r>
              <a:rPr lang="en-IN" dirty="0"/>
              <a:t>Query 1: leave policy rules </a:t>
            </a:r>
          </a:p>
          <a:p>
            <a:pPr lvl="3"/>
            <a:r>
              <a:rPr lang="en-IN" dirty="0"/>
              <a:t>Query 2: travel reimbursement </a:t>
            </a:r>
          </a:p>
          <a:p>
            <a:pPr lvl="3"/>
            <a:r>
              <a:rPr lang="en-IN" dirty="0"/>
              <a:t>Query 3: approval workflow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172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7F0E8-0A84-8CA2-3BB0-E3002A591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156E70-B4FD-9EA7-12F3-DD4E9F288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60265E-6742-8652-B49E-1188CC094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Metadata-Aware Retrieval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407167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3309-07C5-E3DD-66A0-C584AE2C4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1141C-7455-3F79-EDCE-B9940A56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Metadata?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4E74C-781B-5852-D429-1C6C64586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 information stored with documents:</a:t>
            </a:r>
          </a:p>
          <a:p>
            <a:pPr lvl="1"/>
            <a:r>
              <a:rPr lang="en-US" dirty="0"/>
              <a:t>Source (</a:t>
            </a:r>
            <a:r>
              <a:rPr lang="en-US" dirty="0" err="1"/>
              <a:t>LeavePolicy</a:t>
            </a:r>
            <a:r>
              <a:rPr lang="en-US" dirty="0"/>
              <a:t>, </a:t>
            </a:r>
            <a:r>
              <a:rPr lang="en-US" dirty="0" err="1"/>
              <a:t>TravelPolicy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Department </a:t>
            </a:r>
          </a:p>
          <a:p>
            <a:pPr lvl="1"/>
            <a:r>
              <a:rPr lang="en-US" dirty="0"/>
              <a:t>Date </a:t>
            </a:r>
          </a:p>
          <a:p>
            <a:pPr lvl="1"/>
            <a:r>
              <a:rPr lang="en-US" dirty="0"/>
              <a:t>Document type</a:t>
            </a:r>
          </a:p>
          <a:p>
            <a:endParaRPr lang="en-US" b="1" dirty="0"/>
          </a:p>
          <a:p>
            <a:r>
              <a:rPr lang="en-US" b="1" dirty="0"/>
              <a:t>Why it matters</a:t>
            </a:r>
          </a:p>
          <a:p>
            <a:pPr lvl="1"/>
            <a:r>
              <a:rPr lang="en-US" dirty="0"/>
              <a:t>Vector similarity alone is not enough.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851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EA2F9-74FF-29EF-615B-52B437AEB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7A3E8-2553-0AE3-0E02-9BA62942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Metadata?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6ECA4-8490-F9F0-884B-F8131922C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Example Problem:</a:t>
            </a:r>
          </a:p>
          <a:p>
            <a:r>
              <a:rPr lang="en-IN" dirty="0"/>
              <a:t>Query:</a:t>
            </a:r>
          </a:p>
          <a:p>
            <a:pPr lvl="1"/>
            <a:r>
              <a:rPr lang="en-IN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“What is leave eligibility?”</a:t>
            </a: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endParaRPr lang="en-IN" dirty="0"/>
          </a:p>
          <a:p>
            <a:r>
              <a:rPr lang="en-IN" b="1" dirty="0"/>
              <a:t>Without metadata:</a:t>
            </a:r>
          </a:p>
          <a:p>
            <a:pPr lvl="1"/>
            <a:r>
              <a:rPr lang="en-IN" dirty="0"/>
              <a:t>May retrieve: </a:t>
            </a:r>
          </a:p>
          <a:p>
            <a:pPr lvl="2"/>
            <a:r>
              <a:rPr lang="en-IN" dirty="0"/>
              <a:t>Travel policy </a:t>
            </a:r>
          </a:p>
          <a:p>
            <a:pPr lvl="2"/>
            <a:r>
              <a:rPr lang="en-IN" dirty="0"/>
              <a:t>HR handbook </a:t>
            </a:r>
          </a:p>
          <a:p>
            <a:pPr lvl="2"/>
            <a:r>
              <a:rPr lang="en-IN" dirty="0"/>
              <a:t>Leave policy </a:t>
            </a:r>
          </a:p>
          <a:p>
            <a:endParaRPr lang="en-IN" dirty="0"/>
          </a:p>
          <a:p>
            <a:r>
              <a:rPr lang="en-IN" b="1" dirty="0"/>
              <a:t>With Metadata Filtering</a:t>
            </a:r>
          </a:p>
          <a:p>
            <a:pPr lvl="1"/>
            <a:r>
              <a:rPr lang="en-IN" dirty="0"/>
              <a:t>Add condition:</a:t>
            </a:r>
          </a:p>
          <a:p>
            <a:pPr lvl="2"/>
            <a:r>
              <a:rPr lang="en-IN" dirty="0"/>
              <a:t>source = </a:t>
            </a:r>
            <a:r>
              <a:rPr lang="en-IN" dirty="0" err="1"/>
              <a:t>LeavePolicy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Now retrieval is:</a:t>
            </a:r>
          </a:p>
          <a:p>
            <a:pPr lvl="2"/>
            <a:r>
              <a:rPr lang="en-IN" dirty="0"/>
              <a:t>Focused </a:t>
            </a:r>
          </a:p>
          <a:p>
            <a:pPr lvl="2"/>
            <a:r>
              <a:rPr lang="en-IN" dirty="0"/>
              <a:t>Accurate </a:t>
            </a:r>
          </a:p>
          <a:p>
            <a:pPr lvl="2"/>
            <a:r>
              <a:rPr lang="en-IN" dirty="0"/>
              <a:t>Faster</a:t>
            </a:r>
          </a:p>
        </p:txBody>
      </p:sp>
    </p:spTree>
    <p:extLst>
      <p:ext uri="{BB962C8B-B14F-4D97-AF65-F5344CB8AC3E}">
        <p14:creationId xmlns:p14="http://schemas.microsoft.com/office/powerpoint/2010/main" val="127316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147B9-7CA1-2BFB-3BAE-22394C60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1E8737-4CCE-1CDA-1452-D7FE9F322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FC7A4-EC18-2FF0-3B55-35CCC111A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Context Assembly Strategies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1007484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9D9CB-6300-D4D8-8053-5AD7FE79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92F3-C696-9CD5-806B-E741CC5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Assembly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37105-20DC-61DB-4A72-F86FE429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</a:t>
            </a:r>
          </a:p>
          <a:p>
            <a:pPr lvl="1"/>
            <a:r>
              <a:rPr lang="en-US" dirty="0"/>
              <a:t>Even after retrieval:</a:t>
            </a:r>
          </a:p>
          <a:p>
            <a:pPr lvl="2"/>
            <a:r>
              <a:rPr lang="en-US" dirty="0"/>
              <a:t>Context may be: </a:t>
            </a:r>
          </a:p>
          <a:p>
            <a:pPr lvl="3"/>
            <a:r>
              <a:rPr lang="en-US" dirty="0"/>
              <a:t>Too long </a:t>
            </a:r>
          </a:p>
          <a:p>
            <a:pPr lvl="3"/>
            <a:r>
              <a:rPr lang="en-US" dirty="0"/>
              <a:t>Disjointed </a:t>
            </a:r>
          </a:p>
          <a:p>
            <a:pPr lvl="3"/>
            <a:r>
              <a:rPr lang="en-US" dirty="0"/>
              <a:t>Redundant</a:t>
            </a:r>
          </a:p>
          <a:p>
            <a:r>
              <a:rPr lang="en-US" b="1" dirty="0"/>
              <a:t>Goal</a:t>
            </a:r>
          </a:p>
          <a:p>
            <a:pPr lvl="1"/>
            <a:r>
              <a:rPr lang="en-US" dirty="0"/>
              <a:t>Prepare </a:t>
            </a:r>
            <a:r>
              <a:rPr lang="en-US" b="1" dirty="0"/>
              <a:t>clean, useful context</a:t>
            </a:r>
            <a:r>
              <a:rPr lang="en-US" dirty="0"/>
              <a:t> for the LLM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69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D982-535A-7286-0C9A-A24DE7B6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46192-CF4E-C775-99B3-5BABE686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Context Assembly Strategies – Common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186D-47E9-005E-00A7-1D1947BF7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1. Re-ranking</a:t>
            </a:r>
          </a:p>
          <a:p>
            <a:pPr lvl="1"/>
            <a:r>
              <a:rPr lang="en-US" dirty="0"/>
              <a:t>Reorder retrieved chunks based on relevance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Move “approval rules” above “definitions”</a:t>
            </a:r>
          </a:p>
          <a:p>
            <a:pPr lvl="2"/>
            <a:endParaRPr lang="en-US" dirty="0"/>
          </a:p>
          <a:p>
            <a:pPr marL="0" indent="0">
              <a:buNone/>
            </a:pPr>
            <a:r>
              <a:rPr lang="en-US" b="1" dirty="0"/>
              <a:t>2. Deduplication</a:t>
            </a:r>
          </a:p>
          <a:p>
            <a:pPr lvl="1"/>
            <a:r>
              <a:rPr lang="en-US" dirty="0"/>
              <a:t>Remove repeated information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Same policy repeated across pages → keep one</a:t>
            </a:r>
          </a:p>
          <a:p>
            <a:pPr lvl="2"/>
            <a:endParaRPr lang="en-US" dirty="0"/>
          </a:p>
          <a:p>
            <a:r>
              <a:rPr lang="en-US" b="1" dirty="0"/>
              <a:t>3. Chunk Stitching</a:t>
            </a:r>
          </a:p>
          <a:p>
            <a:pPr lvl="1"/>
            <a:r>
              <a:rPr lang="en-US" dirty="0"/>
              <a:t>Combine related chunks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Chunk 1: eligibility </a:t>
            </a:r>
          </a:p>
          <a:p>
            <a:pPr lvl="2"/>
            <a:r>
              <a:rPr lang="en-US" dirty="0"/>
              <a:t>Chunk 2: approval</a:t>
            </a:r>
          </a:p>
          <a:p>
            <a:pPr marL="1168400" lvl="2" indent="0">
              <a:buNone/>
            </a:pPr>
            <a:r>
              <a:rPr lang="en-US" dirty="0"/>
              <a:t>→ Merge into a single logical block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590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BEE1-5D50-EFA2-FCF3-D790336E6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BBDF-66B8-90CD-5DAB-940A6B78A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Context Assembly Strategies – Common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87CDE-D993-EFD8-DF96-378B994B4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4. Context Truncation</a:t>
            </a:r>
          </a:p>
          <a:p>
            <a:pPr lvl="1"/>
            <a:r>
              <a:rPr lang="en-US" dirty="0"/>
              <a:t>Limit size to fit token limits</a:t>
            </a:r>
          </a:p>
          <a:p>
            <a:pPr lvl="1"/>
            <a:r>
              <a:rPr lang="en-US" dirty="0"/>
              <a:t>Keep:</a:t>
            </a:r>
          </a:p>
          <a:p>
            <a:pPr lvl="2"/>
            <a:r>
              <a:rPr lang="en-US" dirty="0"/>
              <a:t>Most relevant parts only</a:t>
            </a:r>
          </a:p>
          <a:p>
            <a:pPr lvl="2"/>
            <a:endParaRPr lang="en-US" dirty="0"/>
          </a:p>
          <a:p>
            <a:pPr marL="0" indent="0">
              <a:buNone/>
            </a:pPr>
            <a:r>
              <a:rPr lang="en-US" b="1" dirty="0"/>
              <a:t>5. Structured Context</a:t>
            </a:r>
          </a:p>
          <a:p>
            <a:pPr lvl="1"/>
            <a:r>
              <a:rPr lang="en-US" dirty="0"/>
              <a:t>Organize context clearly</a:t>
            </a:r>
          </a:p>
          <a:p>
            <a:pPr lvl="1"/>
            <a:r>
              <a:rPr lang="en-US" dirty="0"/>
              <a:t>Example: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[Leave Policy]</a:t>
            </a:r>
          </a:p>
          <a:p>
            <a:pPr lvl="2">
              <a:buFontTx/>
              <a:buChar char="-"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Eligibility:</a:t>
            </a:r>
          </a:p>
          <a:p>
            <a:pPr lvl="2">
              <a:buFontTx/>
              <a:buChar char="-"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Types of Leave:</a:t>
            </a:r>
          </a:p>
          <a:p>
            <a:pPr lvl="2">
              <a:buFontTx/>
              <a:buChar char="-"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Approval Process: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49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02907-5BC3-8C79-214B-5A9FC6541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287A2C-085C-5158-317D-AF48A6C95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EFAA1-0D7A-698E-6846-484B54774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/>
              <a:t>Prompt Structure for RAG Responses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767289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6B5F6-8973-214A-961A-7BC94CDF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07F9-08B0-51C4-16EC-151A4DC5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Structure for RAG Responses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9DADC-335F-2D6A-412B-2B774A84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Why Prompt Matters</a:t>
            </a:r>
          </a:p>
          <a:p>
            <a:pPr lvl="1"/>
            <a:r>
              <a:rPr lang="en-US" dirty="0"/>
              <a:t>Even with perfect context:</a:t>
            </a:r>
          </a:p>
          <a:p>
            <a:pPr lvl="2"/>
            <a:r>
              <a:rPr lang="en-US" dirty="0"/>
              <a:t>Poor prompt → hallucinations </a:t>
            </a:r>
          </a:p>
          <a:p>
            <a:endParaRPr lang="en-US" dirty="0"/>
          </a:p>
          <a:p>
            <a:r>
              <a:rPr lang="en-US" b="1" dirty="0"/>
              <a:t>Ideal RAG Prompt Structure</a:t>
            </a:r>
          </a:p>
          <a:p>
            <a:pPr marL="457200" lvl="1" indent="0">
              <a:buNone/>
            </a:pPr>
            <a:r>
              <a:rPr lang="en-US" b="1" dirty="0"/>
              <a:t>1. Clear Role</a:t>
            </a:r>
          </a:p>
          <a:p>
            <a:pPr lvl="2"/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“You are an HR policy assistant”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b="1" dirty="0"/>
              <a:t>2. Strict Instruction</a:t>
            </a:r>
          </a:p>
          <a:p>
            <a:pPr lvl="2"/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“Answer ONLY using the provided context” </a:t>
            </a:r>
          </a:p>
          <a:p>
            <a:pPr lvl="2"/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“If not found, say: Not available”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b="1" dirty="0"/>
              <a:t>3. Context Section</a:t>
            </a:r>
          </a:p>
          <a:p>
            <a:pPr lvl="2"/>
            <a:r>
              <a:rPr lang="en-US" dirty="0"/>
              <a:t>Clearly separated</a:t>
            </a:r>
          </a:p>
        </p:txBody>
      </p:sp>
    </p:spTree>
    <p:extLst>
      <p:ext uri="{BB962C8B-B14F-4D97-AF65-F5344CB8AC3E}">
        <p14:creationId xmlns:p14="http://schemas.microsoft.com/office/powerpoint/2010/main" val="815225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6E095-4A59-AB70-3052-38313F011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97EC-DB0F-B25A-4FD6-31E6D97F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Structure for RAG Responses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8AB1D-7C70-83F3-7B07-4D7DD759B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Output Formatting</a:t>
            </a:r>
          </a:p>
          <a:p>
            <a:pPr lvl="1"/>
            <a:r>
              <a:rPr lang="en-US" dirty="0"/>
              <a:t>Encourage structured responses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Bullet points </a:t>
            </a:r>
          </a:p>
          <a:p>
            <a:pPr lvl="2"/>
            <a:r>
              <a:rPr lang="en-US" dirty="0"/>
              <a:t>Sections </a:t>
            </a:r>
          </a:p>
          <a:p>
            <a:pPr lvl="2"/>
            <a:r>
              <a:rPr lang="en-US" dirty="0"/>
              <a:t>Step-by-step</a:t>
            </a:r>
          </a:p>
          <a:p>
            <a:endParaRPr lang="en-US" dirty="0"/>
          </a:p>
          <a:p>
            <a:r>
              <a:rPr lang="en-US" b="1" dirty="0"/>
              <a:t>Common Failure Without Good Prompt</a:t>
            </a:r>
          </a:p>
          <a:p>
            <a:pPr lvl="1"/>
            <a:r>
              <a:rPr lang="en-US" dirty="0"/>
              <a:t>Model: </a:t>
            </a:r>
          </a:p>
          <a:p>
            <a:pPr lvl="2"/>
            <a:r>
              <a:rPr lang="en-US" dirty="0"/>
              <a:t>Mixes external knowledge </a:t>
            </a:r>
          </a:p>
          <a:p>
            <a:pPr lvl="2"/>
            <a:r>
              <a:rPr lang="en-US" dirty="0"/>
              <a:t>Hallucinates missing info </a:t>
            </a:r>
          </a:p>
          <a:p>
            <a:pPr lvl="2"/>
            <a:r>
              <a:rPr lang="en-US" dirty="0"/>
              <a:t>Ignores context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633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E82C-20D6-BE62-C2BE-13A40A84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B474-E6FD-15E1-06BB-B9A1E6E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72EB-0C47-7A9D-0A30-CF5CE68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RAG with PDFs as source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905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629</Words>
  <Application>Microsoft Office PowerPoint</Application>
  <PresentationFormat>Widescreen</PresentationFormat>
  <Paragraphs>170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Cascadia Code</vt:lpstr>
      <vt:lpstr>Neue Haas Grotesk Text Pro</vt:lpstr>
      <vt:lpstr>Office Theme</vt:lpstr>
      <vt:lpstr>1_Office Theme</vt:lpstr>
      <vt:lpstr>Python Enablement for Gen AI</vt:lpstr>
      <vt:lpstr>Improving RAG Quality</vt:lpstr>
      <vt:lpstr>Limitations of top-k retrieval</vt:lpstr>
      <vt:lpstr>Limitations of Top-K Retrieval</vt:lpstr>
      <vt:lpstr>Key Limitations of Top-K Retrieval</vt:lpstr>
      <vt:lpstr>Key Limitations of Top-K Retrieval</vt:lpstr>
      <vt:lpstr>Key Limitations of Top-K Retrieval</vt:lpstr>
      <vt:lpstr>Query Reformulation Fundamentals</vt:lpstr>
      <vt:lpstr>Query Reformulation Fundamentals</vt:lpstr>
      <vt:lpstr>Types of Query Reformulation</vt:lpstr>
      <vt:lpstr>Metadata-Aware Retrieval</vt:lpstr>
      <vt:lpstr>What is Metadata?</vt:lpstr>
      <vt:lpstr>What is Metadata?</vt:lpstr>
      <vt:lpstr>Context Assembly Strategies</vt:lpstr>
      <vt:lpstr>Context Assembly Strategies</vt:lpstr>
      <vt:lpstr>Context Assembly Strategies – Common Strategies</vt:lpstr>
      <vt:lpstr>Context Assembly Strategies – Common Strategies</vt:lpstr>
      <vt:lpstr>Prompt Structure for RAG Responses</vt:lpstr>
      <vt:lpstr>Prompt Structure for RAG Responses</vt:lpstr>
      <vt:lpstr>Prompt Structure for RAG Responses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49</cp:revision>
  <dcterms:created xsi:type="dcterms:W3CDTF">2026-04-01T13:32:53Z</dcterms:created>
  <dcterms:modified xsi:type="dcterms:W3CDTF">2026-04-17T14:37:10Z</dcterms:modified>
</cp:coreProperties>
</file>